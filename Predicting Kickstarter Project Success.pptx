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4199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2202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07"/>
            <a:ext cx="10566400" cy="4424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2202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2202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07"/>
            <a:ext cx="10566400" cy="4424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2202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217938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2400" b="1" dirty="0">
                <a:solidFill>
                  <a:srgbClr val="F08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UE24CS352A MACHINE LEARNING | MINI-PROJECT</a:t>
            </a:r>
            <a:endParaRPr lang="en-US" sz="2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239850"/>
            <a:ext cx="10883392" cy="147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20"/>
              </a:lnSpc>
              <a:buNone/>
            </a:pPr>
            <a:r>
              <a:rPr lang="en-US" sz="4000" b="1" i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Kickstarter Project Success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40741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4972138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12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Mithun S                          PES2UG24AM208</a:t>
            </a:r>
          </a:p>
          <a:p>
            <a:pPr marL="0" indent="0" algn="l">
              <a:lnSpc>
                <a:spcPts val="2240"/>
              </a:lnSpc>
              <a:buNone/>
            </a:pPr>
            <a:r>
              <a:rPr lang="en-US" sz="112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lnSpc>
                <a:spcPts val="2240"/>
              </a:lnSpc>
              <a:buNone/>
            </a:pPr>
            <a:r>
              <a:rPr lang="en-US" sz="112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Raksha R Poojary           PES2UG24AM214</a:t>
            </a:r>
            <a:endParaRPr lang="en-US" sz="1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data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71307"/>
            <a:ext cx="6435852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12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r>
              <a:rPr lang="en-US" sz="1800" dirty="0">
                <a:solidFill>
                  <a:srgbClr val="12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 whether a Kickstarter project reaches its funding goal, using only information known at launch.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2517048"/>
            <a:ext cx="6435852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12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</a:t>
            </a:r>
            <a:r>
              <a:rPr lang="en-US" sz="1800" dirty="0">
                <a:solidFill>
                  <a:srgbClr val="12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Five monthly Web Robots scrapes. Completed campaigns only, duplicates removed, goals converted to USD, post-launch fields excluded to avoid leakage.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572375" y="1674482"/>
            <a:ext cx="3803650" cy="1277144"/>
          </a:xfrm>
          <a:prstGeom prst="roundRect">
            <a:avLst>
              <a:gd name="adj" fmla="val 7707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6634" y="1878740"/>
            <a:ext cx="349698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C4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199,233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6634" y="2498461"/>
            <a:ext cx="349698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after cleaning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72375" y="3110376"/>
            <a:ext cx="3803650" cy="1277144"/>
          </a:xfrm>
          <a:prstGeom prst="roundRect">
            <a:avLst>
              <a:gd name="adj" fmla="val 7707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6634" y="3314634"/>
            <a:ext cx="349698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C4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776634" y="3934354"/>
            <a:ext cx="349698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successful, 37% failed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572375" y="4546270"/>
            <a:ext cx="3803650" cy="1277144"/>
          </a:xfrm>
          <a:prstGeom prst="roundRect">
            <a:avLst>
              <a:gd name="adj" fmla="val 7707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6634" y="4750528"/>
            <a:ext cx="349698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C4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/ 30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776634" y="5370248"/>
            <a:ext cx="349698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split: 139,463 train, 59,770 test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82"/>
            <a:ext cx="3380317" cy="2202392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033" y="1929541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C4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features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1033" y="2335941"/>
            <a:ext cx="2956306" cy="1311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2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Goal, duration, name and blurb length, launch month and weekday, category, country and currency encodings, and a text score from Naive Bayes.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842" y="1674482"/>
            <a:ext cx="3380317" cy="2202392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0900" y="1929541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C4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Out-of-fold encoding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60900" y="2335941"/>
            <a:ext cx="2956306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2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means and the text score are computed on held-out folds, so a project never sees its own label.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709" y="1674482"/>
            <a:ext cx="3380317" cy="2202392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0767" y="1929541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C4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models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50767" y="2335941"/>
            <a:ext cx="2956306" cy="1311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2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Regression, Random Forest and Gradient Boosting with balanced class weights, plus an ablation without the text feature.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on 59,770 test projects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33207"/>
          <a:ext cx="10553697" cy="3174340"/>
        </p:xfrm>
        <a:graphic>
          <a:graphicData uri="http://schemas.openxmlformats.org/drawingml/2006/table">
            <a:tbl>
              <a:tblPr/>
              <a:tblGrid>
                <a:gridCol w="1507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7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7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76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76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76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76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4868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 (success)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 (failed)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 (success)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 (failed)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868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Gradient Boosting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868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 Regression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3775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Gradient Boosting, no text feature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5112345"/>
            <a:ext cx="10883392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12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and Gradient Boosting tie at 0.787 accuracy. The text feature adds about 1.4 points for Gradient Boosting.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 and feature importance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18909"/>
            <a:ext cx="4743450" cy="33020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</p:spPr>
      </p:sp>
      <p:pic>
        <p:nvPicPr>
          <p:cNvPr id="4" name="Image 0" descr="Random Forest confusion matri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92" y="1518909"/>
            <a:ext cx="4402667" cy="330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4897109"/>
            <a:ext cx="4885754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2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17,398 failed and 29,620 successful projects predicted correctly; 4,476 and 8,276 missed.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861050" y="1518909"/>
            <a:ext cx="3937000" cy="33020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</p:spPr>
      </p:sp>
      <p:pic>
        <p:nvPicPr>
          <p:cNvPr id="7" name="Image 1" descr="Random Forest feature importan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383" y="1518909"/>
            <a:ext cx="3852333" cy="3302000"/>
          </a:xfrm>
          <a:custGeom>
            <a:avLst/>
            <a:gdLst/>
            <a:ahLst/>
            <a:cxnLst/>
            <a:rect l="l" t="t" r="r" b="b"/>
            <a:pathLst>
              <a:path w="3852333" h="3302000">
                <a:moveTo>
                  <a:pt x="0" y="7940"/>
                </a:moveTo>
                <a:arcTo wR="76200" hR="76200" stAng="14616732" swAng="1583268"/>
                <a:lnTo>
                  <a:pt x="3818467" y="0"/>
                </a:lnTo>
                <a:arcTo wR="76200" hR="76200" stAng="16200000" swAng="1583268"/>
                <a:lnTo>
                  <a:pt x="3852333" y="3294060"/>
                </a:lnTo>
                <a:arcTo wR="76200" hR="76200" stAng="3816732" swAng="1583268"/>
                <a:lnTo>
                  <a:pt x="33867" y="3302000"/>
                </a:lnTo>
                <a:arcTo wR="76200" hR="76200" stAng="5400000" swAng="1583268"/>
                <a:close/>
              </a:path>
            </a:pathLst>
          </a:custGeom>
        </p:spPr>
      </p:pic>
      <p:sp>
        <p:nvSpPr>
          <p:cNvPr id="8" name="Text 4"/>
          <p:cNvSpPr/>
          <p:nvPr/>
        </p:nvSpPr>
        <p:spPr>
          <a:xfrm>
            <a:off x="5861050" y="4897109"/>
            <a:ext cx="4055110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2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success rate and the text score matter most.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and live demo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84"/>
            <a:ext cx="5200650" cy="982530"/>
          </a:xfrm>
          <a:prstGeom prst="roundRect">
            <a:avLst>
              <a:gd name="adj" fmla="val 10018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0233" y="1827941"/>
            <a:ext cx="493589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4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data.py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20233" y="2153047"/>
            <a:ext cx="493589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2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Loads, cleans and de-duplicates the CSVs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5375" y="1623684"/>
            <a:ext cx="5200650" cy="982530"/>
          </a:xfrm>
          <a:prstGeom prst="roundRect">
            <a:avLst>
              <a:gd name="adj" fmla="val 10018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79633" y="1827941"/>
            <a:ext cx="493589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4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features.py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79633" y="2153047"/>
            <a:ext cx="493589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2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the 17 leakage-safe features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5975" y="2764963"/>
            <a:ext cx="5200650" cy="982530"/>
          </a:xfrm>
          <a:prstGeom prst="roundRect">
            <a:avLst>
              <a:gd name="adj" fmla="val 10018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0233" y="2969220"/>
            <a:ext cx="493589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4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train.py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0233" y="3294329"/>
            <a:ext cx="493589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2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Trains, evaluates and saves the best model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5375" y="2764963"/>
            <a:ext cx="5200650" cy="982530"/>
          </a:xfrm>
          <a:prstGeom prst="roundRect">
            <a:avLst>
              <a:gd name="adj" fmla="val 10018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9633" y="2969220"/>
            <a:ext cx="493589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4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app.py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79633" y="3294329"/>
            <a:ext cx="493589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2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app for the live demo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4055467"/>
            <a:ext cx="10883392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12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enter a project's name, blurb, goal, duration and category to get its predicted probability of success.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0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54710" y="1671309"/>
            <a:ext cx="10833862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2090" indent="-212090" algn="l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and Gradient Boosting are best: 0.787 accuracy, F1 about 0.82.</a:t>
            </a:r>
            <a:endParaRPr lang="en-US" sz="2000" dirty="0"/>
          </a:p>
          <a:p>
            <a:pPr marL="212090" indent="-212090" algn="l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success rate and the name and blurb text score are the strongest features.</a:t>
            </a:r>
            <a:endParaRPr lang="en-US" sz="2000" dirty="0"/>
          </a:p>
          <a:p>
            <a:pPr marL="212090" indent="-212090" algn="l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text feature adds a small gain: accuracy 0.773 to 0.787 for Gradient Boosting.</a:t>
            </a:r>
            <a:endParaRPr lang="en-US" sz="2000" dirty="0"/>
          </a:p>
          <a:p>
            <a:pPr marL="212090" indent="-212090" algn="l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projects are harder to identify: precision is about 0.68.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3449309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08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work: tuning with cross-validation, BERT text features, image features.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dicting Kickstarter Project Success">
  <a:themeElements>
    <a:clrScheme name="Predicting Kickstarter Project Success">
      <a:dk1>
        <a:srgbClr val="12202F"/>
      </a:dk1>
      <a:lt1>
        <a:srgbClr val="F6F4EF"/>
      </a:lt1>
      <a:dk2>
        <a:srgbClr val="4B555F"/>
      </a:dk2>
      <a:lt2>
        <a:srgbClr val="DFDFDC"/>
      </a:lt2>
      <a:accent1>
        <a:srgbClr val="C4521F"/>
      </a:accent1>
      <a:accent2>
        <a:srgbClr val="F08A52"/>
      </a:accent2>
      <a:accent3>
        <a:srgbClr val="4A5560"/>
      </a:accent3>
      <a:accent4>
        <a:srgbClr val="C9D3DD"/>
      </a:accent4>
      <a:accent5>
        <a:srgbClr val="9AA0A6"/>
      </a:accent5>
      <a:accent6>
        <a:srgbClr val="6D757C"/>
      </a:accent6>
      <a:hlink>
        <a:srgbClr val="0563C1"/>
      </a:hlink>
      <a:folHlink>
        <a:srgbClr val="954F72"/>
      </a:folHlink>
    </a:clrScheme>
    <a:fontScheme name="Predicting Kickstarter Project Succes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420</Words>
  <Application>Microsoft Office PowerPoint</Application>
  <PresentationFormat>Widescreen</PresentationFormat>
  <Paragraphs>85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Predicting Kickstarter Project Success</vt:lpstr>
      <vt:lpstr>Predicting Kickstarter Project Success</vt:lpstr>
      <vt:lpstr>Problem and data</vt:lpstr>
      <vt:lpstr>Approach</vt:lpstr>
      <vt:lpstr>Results on 59,770 test projects</vt:lpstr>
      <vt:lpstr>Confusion matrix and feature importance</vt:lpstr>
      <vt:lpstr>Implementation and live demo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Kickstarter Project Success</dc:title>
  <dc:subject/>
  <dc:creator/>
  <cp:lastModifiedBy>MITHUN SELVAKUMAR</cp:lastModifiedBy>
  <cp:revision>2</cp:revision>
  <dcterms:created xsi:type="dcterms:W3CDTF">2026-10-02T08:37:17Z</dcterms:created>
  <dcterms:modified xsi:type="dcterms:W3CDTF">2026-10-02T08:40:48Z</dcterms:modified>
</cp:coreProperties>
</file>